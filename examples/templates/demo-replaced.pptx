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13232"/>
            <a:ext cx="2011680" cy="5532120"/>
          </a:xfrm>
          <a:prstGeom prst="roundRect">
            <a:avLst>
              <a:gd name="adj" fmla="val 2273"/>
            </a:avLst>
          </a:prstGeom>
          <a:solidFill>
            <a:srgbClr val="F3F7FA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822960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Inputs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377440" y="713232"/>
            <a:ext cx="2788920" cy="5532120"/>
          </a:xfrm>
          <a:prstGeom prst="roundRect">
            <a:avLst>
              <a:gd name="adj" fmla="val 1639"/>
            </a:avLst>
          </a:prstGeom>
          <a:solidFill>
            <a:srgbClr val="EDF5FA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87168" y="822960"/>
            <a:ext cx="25694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View-specific Encoding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49240" y="713232"/>
            <a:ext cx="4343400" cy="5532120"/>
          </a:xfrm>
          <a:prstGeom prst="roundRect">
            <a:avLst>
              <a:gd name="adj" fmla="val 1053"/>
            </a:avLst>
          </a:prstGeom>
          <a:solidFill>
            <a:srgbClr val="F7F2FA"/>
          </a:solidFill>
          <a:ln w="12700">
            <a:solidFill>
              <a:srgbClr val="D7C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8968" y="822960"/>
            <a:ext cx="4123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Graph-Guided Fusion &amp; Zoom-in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0" y="713232"/>
            <a:ext cx="2103120" cy="5532120"/>
          </a:xfrm>
          <a:prstGeom prst="roundRect">
            <a:avLst>
              <a:gd name="adj" fmla="val 2174"/>
            </a:avLst>
          </a:prstGeom>
          <a:solidFill>
            <a:srgbClr val="F2F8F1"/>
          </a:solidFill>
          <a:ln w="12700">
            <a:solidFill>
              <a:srgbClr val="CC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8229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Predictions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69164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20240" y="324612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20240" y="4828032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691640"/>
            <a:ext cx="73152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2578608"/>
            <a:ext cx="731520" cy="73152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2496312"/>
            <a:ext cx="2560320" cy="233172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2011680"/>
            <a:ext cx="45720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0" y="2011680"/>
            <a:ext cx="1143000" cy="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99632" y="2907792"/>
            <a:ext cx="0" cy="82296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2907792"/>
            <a:ext cx="411480" cy="82296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5120640"/>
            <a:ext cx="0" cy="54864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1874520"/>
            <a:ext cx="1737360" cy="251460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66760" y="3429000"/>
            <a:ext cx="1737360" cy="1325880"/>
          </a:xfrm>
          <a:prstGeom prst="line">
            <a:avLst/>
          </a:prstGeom>
          <a:noFill/>
          <a:ln w="19050">
            <a:solidFill>
              <a:srgbClr val="47789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972800" y="2331720"/>
            <a:ext cx="0" cy="2240280"/>
          </a:xfrm>
          <a:prstGeom prst="line">
            <a:avLst/>
          </a:prstGeom>
          <a:noFill/>
          <a:ln w="19050">
            <a:solidFill>
              <a:srgbClr val="C96E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907792"/>
            <a:ext cx="3657600" cy="2606040"/>
          </a:xfrm>
          <a:prstGeom prst="line">
            <a:avLst/>
          </a:prstGeom>
          <a:noFill/>
          <a:ln w="19050">
            <a:solidFill>
              <a:srgbClr val="8062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66760" y="2907792"/>
            <a:ext cx="1965960" cy="3017520"/>
          </a:xfrm>
          <a:prstGeom prst="line">
            <a:avLst/>
          </a:prstGeom>
          <a:noFill/>
          <a:ln w="19050">
            <a:solidFill>
              <a:srgbClr val="55945B"/>
            </a:solidFill>
            <a:prstDash val="solid"/>
            <a:tailEnd type="triangle"/>
          </a:ln>
        </p:spPr>
      </p:sp>
      <p:sp>
        <p:nvSpPr>
          <p:cNvPr id="26" name="FIGURE_TITLE"/>
          <p:cNvSpPr/>
          <p:nvPr/>
        </p:nvSpPr>
        <p:spPr>
          <a:xfrm>
            <a:off x="777240" y="16459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B4D"/>
                </a:solidFill>
              </a:rPr>
              <a:t>Graph-Guided Multimodal Learning with Adaptive Relation Fusion</a:t>
            </a:r>
            <a:endParaRPr lang="en-US" sz="2000" dirty="0"/>
          </a:p>
        </p:txBody>
      </p:sp>
      <p:sp>
        <p:nvSpPr>
          <p:cNvPr id="27" name="IMAGE_INPUT"/>
          <p:cNvSpPr/>
          <p:nvPr/>
        </p:nvSpPr>
        <p:spPr>
          <a:xfrm>
            <a:off x="457200" y="1234440"/>
            <a:ext cx="1463040" cy="960120"/>
          </a:xfrm>
          <a:prstGeom prst="roundRect">
            <a:avLst/>
          </a:prstGeom>
          <a:solidFill>
            <a:srgbClr val="E1EEF6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Image / Document</a:t>
            </a:r>
            <a:endParaRPr lang="en-US" sz="1200" dirty="0"/>
          </a:p>
        </p:txBody>
      </p:sp>
      <p:sp>
        <p:nvSpPr>
          <p:cNvPr id="28" name="TEXT_INPUT"/>
          <p:cNvSpPr/>
          <p:nvPr/>
        </p:nvSpPr>
        <p:spPr>
          <a:xfrm>
            <a:off x="457200" y="2743200"/>
            <a:ext cx="1463040" cy="960120"/>
          </a:xfrm>
          <a:prstGeom prst="roundRect">
            <a:avLst/>
          </a:prstGeom>
          <a:solidFill>
            <a:srgbClr val="EEF0F7"/>
          </a:solidFill>
          <a:ln w="19050">
            <a:solidFill>
              <a:srgbClr val="5D6F91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Text Tokens</a:t>
            </a:r>
            <a:endParaRPr lang="en-US" sz="1200" dirty="0"/>
          </a:p>
        </p:txBody>
      </p:sp>
      <p:sp>
        <p:nvSpPr>
          <p:cNvPr id="29" name="GRAPH_INPUT"/>
          <p:cNvSpPr/>
          <p:nvPr/>
        </p:nvSpPr>
        <p:spPr>
          <a:xfrm>
            <a:off x="457200" y="4251960"/>
            <a:ext cx="1463040" cy="1143000"/>
          </a:xfrm>
          <a:prstGeom prst="roundRect">
            <a:avLst/>
          </a:prstGeom>
          <a:solidFill>
            <a:srgbClr val="EEF5EA"/>
          </a:solidFill>
          <a:ln w="19050">
            <a:solidFill>
              <a:srgbClr val="5A805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Metadata Graph</a:t>
            </a:r>
            <a:endParaRPr lang="en-US" sz="1200" dirty="0"/>
          </a:p>
        </p:txBody>
      </p:sp>
      <p:sp>
        <p:nvSpPr>
          <p:cNvPr id="30" name="VISUAL_ENCODER_CARD"/>
          <p:cNvSpPr/>
          <p:nvPr/>
        </p:nvSpPr>
        <p:spPr>
          <a:xfrm>
            <a:off x="2651760" y="1170432"/>
            <a:ext cx="2148840" cy="1143000"/>
          </a:xfrm>
          <a:prstGeom prst="roundRect">
            <a:avLst/>
          </a:prstGeom>
          <a:solidFill>
            <a:srgbClr val="D9ECF5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LANGUAGE_ENCODER"/>
          <p:cNvSpPr/>
          <p:nvPr/>
        </p:nvSpPr>
        <p:spPr>
          <a:xfrm>
            <a:off x="2651760" y="2697480"/>
            <a:ext cx="2148840" cy="1280160"/>
          </a:xfrm>
          <a:prstGeom prst="roundRect">
            <a:avLst/>
          </a:prstGeom>
          <a:solidFill>
            <a:srgbClr val="E3EBF3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B4D"/>
                </a:solidFill>
              </a:rPr>
              <a:t>Contextual Language Encoder</a:t>
            </a:r>
            <a:endParaRPr lang="en-US" sz="1100" dirty="0"/>
          </a:p>
        </p:txBody>
      </p:sp>
      <p:sp>
        <p:nvSpPr>
          <p:cNvPr id="32" name="GRAPH_ENCODER_CARD"/>
          <p:cNvSpPr/>
          <p:nvPr/>
        </p:nvSpPr>
        <p:spPr>
          <a:xfrm>
            <a:off x="2651760" y="4251960"/>
            <a:ext cx="2148840" cy="1143000"/>
          </a:xfrm>
          <a:prstGeom prst="roundRect">
            <a:avLst/>
          </a:prstGeom>
          <a:solidFill>
            <a:srgbClr val="E2F0E0"/>
          </a:solidFill>
          <a:ln w="19050">
            <a:solidFill>
              <a:srgbClr val="5A805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3" name="VISUAL_TENSOR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240" y="1261872"/>
            <a:ext cx="1325880" cy="566928"/>
          </a:xfrm>
          <a:prstGeom prst="rect">
            <a:avLst/>
          </a:prstGeom>
        </p:spPr>
      </p:pic>
      <p:sp>
        <p:nvSpPr>
          <p:cNvPr id="34" name="VISUAL_ENCODER"/>
          <p:cNvSpPr/>
          <p:nvPr/>
        </p:nvSpPr>
        <p:spPr>
          <a:xfrm>
            <a:off x="2770632" y="187452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B4D"/>
                </a:solidFill>
              </a:rPr>
              <a:t>Multi-scale Vision Encoder</a:t>
            </a:r>
            <a:endParaRPr lang="en-US" sz="1050" dirty="0"/>
          </a:p>
        </p:txBody>
      </p:sp>
      <p:pic>
        <p:nvPicPr>
          <p:cNvPr id="35" name="GRAPH_ILLUSTRATION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3240" y="4324985"/>
            <a:ext cx="1325880" cy="758190"/>
          </a:xfrm>
          <a:prstGeom prst="rect">
            <a:avLst/>
          </a:prstGeom>
        </p:spPr>
      </p:pic>
      <p:sp>
        <p:nvSpPr>
          <p:cNvPr id="36" name="GRAPH_ENCODER"/>
          <p:cNvSpPr/>
          <p:nvPr/>
        </p:nvSpPr>
        <p:spPr>
          <a:xfrm>
            <a:off x="2770505" y="5119370"/>
            <a:ext cx="1901825" cy="129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B4D"/>
                </a:solidFill>
              </a:rPr>
              <a:t>Relational Graph Encoder</a:t>
            </a:r>
            <a:endParaRPr lang="en-US" sz="1050" dirty="0"/>
          </a:p>
        </p:txBody>
      </p:sp>
      <p:sp>
        <p:nvSpPr>
          <p:cNvPr id="37" name="ATTENTION_MODULE_CARD"/>
          <p:cNvSpPr/>
          <p:nvPr/>
        </p:nvSpPr>
        <p:spPr>
          <a:xfrm>
            <a:off x="5532120" y="1170432"/>
            <a:ext cx="1325880" cy="1737360"/>
          </a:xfrm>
          <a:prstGeom prst="roundRect">
            <a:avLst/>
          </a:prstGeom>
          <a:solidFill>
            <a:srgbClr val="F7DFD3"/>
          </a:solidFill>
          <a:ln w="19050">
            <a:solidFill>
              <a:srgbClr val="C7794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8" name="ATTENTION_MAP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6440" y="1325880"/>
            <a:ext cx="777240" cy="713232"/>
          </a:xfrm>
          <a:prstGeom prst="rect">
            <a:avLst/>
          </a:prstGeom>
        </p:spPr>
      </p:pic>
      <p:sp>
        <p:nvSpPr>
          <p:cNvPr id="39" name="ATTENTION_MODULE"/>
          <p:cNvSpPr/>
          <p:nvPr/>
        </p:nvSpPr>
        <p:spPr>
          <a:xfrm>
            <a:off x="5650992" y="2176272"/>
            <a:ext cx="107899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B4D"/>
                </a:solidFill>
              </a:rPr>
              <a:t>Cross-modal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B4D"/>
                </a:solidFill>
              </a:rPr>
              <a:t>Attention</a:t>
            </a:r>
            <a:endParaRPr lang="en-US" sz="1050" dirty="0"/>
          </a:p>
        </p:txBody>
      </p:sp>
      <p:sp>
        <p:nvSpPr>
          <p:cNvPr id="40" name="RELATION_GRAPH"/>
          <p:cNvSpPr/>
          <p:nvPr/>
        </p:nvSpPr>
        <p:spPr>
          <a:xfrm>
            <a:off x="7315200" y="1170432"/>
            <a:ext cx="1645920" cy="1737360"/>
          </a:xfrm>
          <a:prstGeom prst="roundRect">
            <a:avLst/>
          </a:prstGeom>
          <a:solidFill>
            <a:srgbClr val="E6F1E3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B4D"/>
                </a:solidFill>
              </a:rPr>
              <a:t>Learned Relation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B4D"/>
                </a:solidFill>
              </a:rPr>
              <a:t>Graph</a:t>
            </a:r>
            <a:endParaRPr lang="en-US" sz="1100" dirty="0"/>
          </a:p>
        </p:txBody>
      </p:sp>
      <p:sp>
        <p:nvSpPr>
          <p:cNvPr id="41" name="FUSION_MODULE"/>
          <p:cNvSpPr/>
          <p:nvPr/>
        </p:nvSpPr>
        <p:spPr>
          <a:xfrm>
            <a:off x="5989320" y="3703320"/>
            <a:ext cx="2377440" cy="1417320"/>
          </a:xfrm>
          <a:prstGeom prst="roundRect">
            <a:avLst/>
          </a:prstGeom>
          <a:solidFill>
            <a:srgbClr val="E9DFF2"/>
          </a:solidFill>
          <a:ln w="19050">
            <a:solidFill>
              <a:srgbClr val="7E5AA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B4D"/>
                </a:solidFill>
              </a:rPr>
              <a:t>Adaptive Graph-Guided Fusion</a:t>
            </a:r>
            <a:endParaRPr lang="en-US" sz="1200" dirty="0"/>
          </a:p>
        </p:txBody>
      </p:sp>
      <p:sp>
        <p:nvSpPr>
          <p:cNvPr id="42" name="JOINT_REP"/>
          <p:cNvSpPr/>
          <p:nvPr/>
        </p:nvSpPr>
        <p:spPr>
          <a:xfrm>
            <a:off x="6263640" y="5669280"/>
            <a:ext cx="1874520" cy="502920"/>
          </a:xfrm>
          <a:prstGeom prst="roundRect">
            <a:avLst/>
          </a:prstGeom>
          <a:solidFill>
            <a:srgbClr val="D9E8F4"/>
          </a:solidFill>
          <a:ln w="19050">
            <a:solidFill>
              <a:srgbClr val="42698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</a:rPr>
              <a:t>Joint Representation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650992" y="3502152"/>
            <a:ext cx="3063240" cy="1810512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A25B8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715000" y="33375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25B8B"/>
                </a:solidFill>
              </a:rPr>
              <a:t>Innovation zoom-in</a:t>
            </a:r>
            <a:endParaRPr lang="en-US" sz="1000" dirty="0"/>
          </a:p>
        </p:txBody>
      </p:sp>
      <p:sp>
        <p:nvSpPr>
          <p:cNvPr id="45" name="PREDICTION_HEAD"/>
          <p:cNvSpPr/>
          <p:nvPr/>
        </p:nvSpPr>
        <p:spPr>
          <a:xfrm>
            <a:off x="10104120" y="1234440"/>
            <a:ext cx="1645920" cy="1097280"/>
          </a:xfrm>
          <a:prstGeom prst="roundRect">
            <a:avLst/>
          </a:prstGeom>
          <a:solidFill>
            <a:srgbClr val="E1F1DF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B4D"/>
                </a:solidFill>
              </a:rPr>
              <a:t>Task Prediction Head</a:t>
            </a:r>
            <a:endParaRPr lang="en-US" sz="1100" dirty="0"/>
          </a:p>
        </p:txBody>
      </p:sp>
      <p:sp>
        <p:nvSpPr>
          <p:cNvPr id="46" name="EXPLANATION"/>
          <p:cNvSpPr/>
          <p:nvPr/>
        </p:nvSpPr>
        <p:spPr>
          <a:xfrm>
            <a:off x="10104120" y="2880360"/>
            <a:ext cx="1645920" cy="1097280"/>
          </a:xfrm>
          <a:prstGeom prst="roundRect">
            <a:avLst/>
          </a:prstGeom>
          <a:solidFill>
            <a:srgbClr val="F5ECD8"/>
          </a:solidFill>
          <a:ln w="19050">
            <a:solidFill>
              <a:srgbClr val="B98B42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B4D"/>
                </a:solidFill>
              </a:rPr>
              <a:t>Graph Explanation</a:t>
            </a:r>
            <a:endParaRPr lang="en-US" sz="1100" dirty="0"/>
          </a:p>
        </p:txBody>
      </p:sp>
      <p:sp>
        <p:nvSpPr>
          <p:cNvPr id="47" name="TASK_LOSS"/>
          <p:cNvSpPr/>
          <p:nvPr/>
        </p:nvSpPr>
        <p:spPr>
          <a:xfrm>
            <a:off x="10149840" y="4572000"/>
            <a:ext cx="1554480" cy="438912"/>
          </a:xfrm>
          <a:prstGeom prst="roundRect">
            <a:avLst/>
          </a:prstGeom>
          <a:solidFill>
            <a:srgbClr val="F8DFDC"/>
          </a:solidFill>
          <a:ln w="19050">
            <a:solidFill>
              <a:srgbClr val="C96E6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</a:rPr>
              <a:t>Task Supervision</a:t>
            </a:r>
            <a:endParaRPr lang="en-US" sz="1000" dirty="0"/>
          </a:p>
        </p:txBody>
      </p:sp>
      <p:sp>
        <p:nvSpPr>
          <p:cNvPr id="48" name="ALIGNMENT_LOSS"/>
          <p:cNvSpPr/>
          <p:nvPr/>
        </p:nvSpPr>
        <p:spPr>
          <a:xfrm>
            <a:off x="10149840" y="5285232"/>
            <a:ext cx="1554480" cy="438912"/>
          </a:xfrm>
          <a:prstGeom prst="roundRect">
            <a:avLst/>
          </a:prstGeom>
          <a:solidFill>
            <a:srgbClr val="E9E0F4"/>
          </a:solidFill>
          <a:ln w="19050">
            <a:solidFill>
              <a:srgbClr val="8062A8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B4D"/>
                </a:solidFill>
              </a:rPr>
              <a:t>Cross-modal Alignment</a:t>
            </a:r>
            <a:endParaRPr lang="en-US" sz="1000" dirty="0"/>
          </a:p>
        </p:txBody>
      </p:sp>
      <p:sp>
        <p:nvSpPr>
          <p:cNvPr id="49" name="GRAPH_LOSS"/>
          <p:cNvSpPr/>
          <p:nvPr/>
        </p:nvSpPr>
        <p:spPr>
          <a:xfrm>
            <a:off x="10149840" y="5916168"/>
            <a:ext cx="1554480" cy="384048"/>
          </a:xfrm>
          <a:prstGeom prst="roundRect">
            <a:avLst/>
          </a:prstGeom>
          <a:solidFill>
            <a:srgbClr val="E3F0E0"/>
          </a:solidFill>
          <a:ln w="19050">
            <a:solidFill>
              <a:srgbClr val="55945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2B4D"/>
                </a:solidFill>
              </a:rPr>
              <a:t>Graph Regularization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WPS 演示</Application>
  <PresentationFormat>On-screen Show (16:9)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Arial</vt:lpstr>
      <vt:lpstr>微软雅黑</vt:lpstr>
      <vt:lpstr>Arial Unicode MS</vt:lpstr>
      <vt:lpstr>等线</vt:lpstr>
      <vt:lpstr>Office Theme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Editable Scientific Figure Template</dc:title>
  <dc:creator>draw-cs-research-figures</dc:creator>
  <dc:subject>PptxGenJS Presentation</dc:subject>
  <cp:lastModifiedBy>刘久瑞</cp:lastModifiedBy>
  <cp:revision>2</cp:revision>
  <dcterms:created xsi:type="dcterms:W3CDTF">2026-07-18T09:34:00Z</dcterms:created>
  <dcterms:modified xsi:type="dcterms:W3CDTF">2026-07-18T09:42:18Z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198727EB96D14A2089282BB5BDD51FA2_12</vt:lpwstr>
  </property>
  <property fmtid="{D5CDD505-2E9C-101B-9397-08002B2CF9AE}" pid="3" name="KSOProductBuildVer">
    <vt:lpwstr>2052-12.1.0.26375</vt:lpwstr>
  </property>
</Properties>
</file>